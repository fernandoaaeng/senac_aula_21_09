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UC11 · MATERIAL TEORICO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Ameacas reais em Python: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trojans, exfiltracao e criptografia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e conceitos por tras de tres tecnicas classicas de Black Hat Python, para discussao em laboratorio controlado.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5257800"/>
            <a:ext cx="457200" cy="10972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50292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5257800"/>
            <a:ext cx="457200" cy="10972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Exfiltracao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63840" y="50292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5257800"/>
            <a:ext cx="457200" cy="109728"/>
          </a:xfrm>
          <a:prstGeom prst="rect">
            <a:avLst/>
          </a:prstGeom>
          <a:solidFill>
            <a:srgbClr val="9B7C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Black Hat Python, 2a edicao - Justin Seitz &amp; Tim Arnold (No Starch Press)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06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coisa: regra de laboratorio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temas de hoje sao teoricos. Qualquer codigo apresentado em aula deve rodar apenas na rede isolada do laboratorio, em maquinas e servicos que o proprio professor controla, nunca contra terceiros ou fora desse ambiente.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4747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241A1C"/>
          </a:solidFill>
          <a:ln w="12700">
            <a:solidFill>
              <a:srgbClr val="3A2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70332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PERMITIDO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14800"/>
            <a:ext cx="262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isolada do laboratorio, com autorizacao explicita da instituicao para esta aula.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8640" y="34747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241A1C"/>
          </a:solidFill>
          <a:ln w="12700">
            <a:solidFill>
              <a:srgbClr val="3A2A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2960" y="370332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PROIBIDO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32960" y="4114800"/>
            <a:ext cx="262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sistema de terceiros, redes publicas, ou fora do ambiente autorizado desta disciplina.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94320" y="34747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241A1C"/>
          </a:solidFill>
          <a:ln w="12700">
            <a:solidFill>
              <a:srgbClr val="3A2A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68640" y="3703320"/>
            <a:ext cx="262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68640" y="4114800"/>
            <a:ext cx="262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Civil da Internet e Art. 154-A do Codigo Penal (invasao de dispositivo informatico).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 MATERIAL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 Python, 2a edicao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Seitz &amp; Tim Arnold - No Starch Press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Capitulos usados nesta aula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2004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C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200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 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00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Command and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C2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977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 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977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Trojaning Tasks on Windows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7548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C212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 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754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with Exfiltration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3774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usar o livro em aula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089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Nestes slides: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arquitetura e deteccao, sem codigo pronto.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projetor, ao vivo: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abre o livro (fisico ou PDF legalmente adquirido) e apresenta o codigo original diretamente aos alunos.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slides marcados "espaco para o codigo":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prints ou trechos do livro na hora da aula.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 e utilize uma copia licenciada do livro. O conteudo do livro em si nao e reproduzido aqui.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tecnicas, o mesmo roteiro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731520" cy="7315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72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487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sao, como se escondem e persistem, e o exemplo de C2 via GitHub do capitulo 7/8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024128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56616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72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474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Exfiltracao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90448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dados saem de uma rede sem ser percebidos, com base no capitulo 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1024128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983480"/>
            <a:ext cx="731520" cy="731520"/>
          </a:xfrm>
          <a:prstGeom prst="ellipse">
            <a:avLst/>
          </a:prstGeom>
          <a:solidFill>
            <a:srgbClr val="9B7C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72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arquivos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53218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uso legitimo ao abuso por ransomware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bloco: conceito -&gt; arquitetura -&gt; codigo do livro (ao vivo) -&gt; deteccao pelo blue team.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38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80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que se disfarca de legitimo para ganhar acesso continuo a uma maquina.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um trojan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vem do Cavalo de Troia: um programa que parece util ou inofensivo, mas esconde uma funcao maliciosa. Diferente de um virus, ele nao se autorreplica - depende de alguem executa-lo, ou de uma vulnerabilidade que o instale.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rodando, o objetivo normalmente e continuar ativo sem ser percebido, e permitir que um atacante remoto controle a maquina ou colete informacoes dela.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confundir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replica sozinho, anexado a outros arquivos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espalha sozinho pela rede, sem ajuda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983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se replica; precisa ser executado ou instalado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trojan moderno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9019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disfarcado de arquivo legitimo (anexo, instalador, link)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0" cy="292608"/>
          </a:xfrm>
          <a:prstGeom prst="line">
            <a:avLst/>
          </a:prstGeom>
          <a:noFill/>
          <a:ln w="19050">
            <a:solidFill>
              <a:srgbClr val="2A3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761488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4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Alguem roda o arquivo, ou uma vulnerabilidade o executa sozinho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310128"/>
            <a:ext cx="0" cy="292608"/>
          </a:xfrm>
          <a:prstGeom prst="line">
            <a:avLst/>
          </a:prstGeom>
          <a:noFill/>
          <a:ln w="19050">
            <a:solidFill>
              <a:srgbClr val="2A33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02736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4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844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garante que vai rodar de novo no proximo boot/login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4151376"/>
            <a:ext cx="0" cy="292608"/>
          </a:xfrm>
          <a:prstGeom prst="line">
            <a:avLst/>
          </a:prstGeom>
          <a:noFill/>
          <a:ln w="19050">
            <a:solidFill>
              <a:srgbClr val="2A3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443984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425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e controle (C2)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4256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um servidor remoto para receber ordens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4992624"/>
            <a:ext cx="0" cy="292608"/>
          </a:xfrm>
          <a:prstGeom prst="line">
            <a:avLst/>
          </a:prstGeom>
          <a:noFill/>
          <a:ln w="19050">
            <a:solidFill>
              <a:srgbClr val="2A33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285232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4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266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2669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tarefas: capturar tela, teclas, roubar arquivos, etc.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DO LIVRO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via GitHub (capitulos 7 e 8)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 Python usa um repositorio privado do GitHub como canal de comando e controle: o trojan busca la suas instrucoes e devolve resultados, disfarcando o trafego malicioso de uma simples sincronizacao de repositorio.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(capturar tela, registrar teclas...) vira um arquivo Python separado, com uma funcao run()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8346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configuracao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383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JSON no repositorio diz quais modulos aquele trojan especifico deve baixar e executar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Importacao remota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983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trojan customiza como o Python importa modulos, para buscar codigo direto do repositorio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4348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comuns (cap. 8)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983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teclas digitadas, tirar screenshots e detectar se esta rodando dentro de um sandbox de analise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descritos em alto nivel, a partir do sumario publico do livro - sem reproduzir o codigo-fonte.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Implementacao: trojan com C2 via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4023360"/>
          </a:xfrm>
          <a:prstGeom prst="roundRect">
            <a:avLst>
              <a:gd name="adj" fmla="val 2273"/>
            </a:avLst>
          </a:prstGeom>
          <a:solidFill>
            <a:srgbClr val="10151B"/>
          </a:solidFill>
          <a:ln w="19050">
            <a:solidFill>
              <a:srgbClr val="E5484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246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ESPACO PARA O CODIGO DO LIVRO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8404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a captura de tela ou o trecho de codigo do livro para apresentar ao vivo.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297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 Python, 2a ed. - Capitulos 7 (GitHub Command and Control) e 8 (Common Trojaning Tasks on Windows)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slide fica em branco de proposito: o codigo apresentado em aula vem diretamente do livro.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BLUE 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detecta um trojan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dessas evidencias sozinha prova um ataque, mas juntas formam um padrao suspeito.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estranhos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desconhecido, ou um processo legitimo com comportamento fora do normal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Conexoes de saida incomuns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Trafego constante para um dominio ou IP fora da rotina da maquina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nao autorizada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entradas de inicializacao automatica (registro, tarefas agendadas, servicos)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disco e CPU sem explicacao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fundo que ninguem consegue justificar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38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Exfiltracao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80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em que dados coletados saem escondidos da rede da vitima.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exfiltracao de dados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processo de transferir dados de dentro de uma rede comprometida para fora dela, sem ser bloqueado ou notado. Costuma ser a ultima etapa de um ataque: antes disso, alguem ja coletou senhas, documentos ou credenciais dentro da rede.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tecnico do atacante e simples de descrever: os dados precisam sair, mas o trafego de saida costuma ser monitorado. A solucao, na pratica, e disfarcar essa saida de trafego comum.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31699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52628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98348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Disfarcado de navegacao web comum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8640" y="4297680"/>
            <a:ext cx="31699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452628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498348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escondidos em consultas de dominio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94320" y="4297680"/>
            <a:ext cx="31699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22920" y="452628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/ nuvem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22920" y="498348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Anexado a um servico ja permitido pela rede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DO LIVRO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Tecnicas de exfiltracao (capitulo 9)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mostra duas ideias que se apoiam num mesmo principio: usar um processo ou servico ja confiavel na rede para carregar os dados para fora, em vez de abrir uma conexao propria e suspeita.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Man-in-the-browser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 dados digitados em formularios do proprio navegador da vitima, antes de serem enviados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28346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Automacao de um processo confiavel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383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um programa que a rede ja libera (ex.: o navegador) para fazer o upload, em vez de um processo novo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Dead-drop em servico publico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mandar direto para o atacante, publica os dados cifrados em um servico comum (ex.: um blog), que o atacante consulta depois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4348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e filtros de rede tendem a confiar em processos e destinos ja conhecidos, e prestam menos atencao neles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descritos em alto nivel, a partir do sumario publico do livro - sem reproduzir o codigo-fonte.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Implementacao: tecnica de exfiltracao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4023360"/>
          </a:xfrm>
          <a:prstGeom prst="roundRect">
            <a:avLst>
              <a:gd name="adj" fmla="val 2273"/>
            </a:avLst>
          </a:prstGeom>
          <a:solidFill>
            <a:srgbClr val="10151B"/>
          </a:solidFill>
          <a:ln w="19050">
            <a:solidFill>
              <a:srgbClr val="F2A65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246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ESPACO PARA O CODIGO DO LIVRO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8404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a captura de tela ou o trecho de codigo do livro para apresentar ao vivo.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297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Hat Python, 2a ed. - Capitulo 9 (Fun with Exfiltration)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slide fica em branco de proposito: o codigo apresentado em aula vem diretamente do livro.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BLUE 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detecta exfiltracao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do blue team aqui e no volume e no padrao do trafego de saida, nao so no destino.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saida incomum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pico de dados enviados por uma maquina que normalmente so consome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atipico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grandes fora do expediente normal daquele usuario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incomum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para servicos de nuvem ou dominios nunca usados antes por aquela maquina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DLP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Data Loss Prevention que inspecionam o conteudo saindo da rede, nao so o destino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9B7CF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38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arquivos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80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matematica protege backups legitimos e alimenta o ransomware.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simetrica, em uma imagem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simetrica usa a mesma chave para cifrar e para decifrar. Sem a chave certa, o conteudo cifrado parece so ruido - por isso e usada para proteger backups, senhas salvas e comunicacao.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original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114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meu_relatorio.pdf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017520"/>
            <a:ext cx="502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1C2129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chave secreta -&gt; cifrar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114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gAAAAABk93f2...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3017520"/>
            <a:ext cx="502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863840" y="301752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924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protegido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114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meu_relatorio.pdf.enc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486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chave, aplicada de novo, devolve o arquivo original (decifrar).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ABUSO DESSE PRINCIPIO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vira ransomware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usa exatamente essa mesma ideia de cifrar arquivos - so que sem consentimento do dono, em massa, e guardando a chave apenas com o atacante, que cobra um resgate para devolve-la.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9B7C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118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escolhe cifrar seu proprio arquivo, guarda a chave, e pode decifrar quando quiser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983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cifra os arquivos da vitima sem permissao, apaga os originais e retem a chave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06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cifrar, normalmente aparece uma nota de resgate pedindo pagamento (com frequencia em criptomoeda) pela chave.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Implementacao: cifrar/decifrar um arquivo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241280" cy="4023360"/>
          </a:xfrm>
          <a:prstGeom prst="roundRect">
            <a:avLst>
              <a:gd name="adj" fmla="val 2273"/>
            </a:avLst>
          </a:prstGeom>
          <a:solidFill>
            <a:srgbClr val="10151B"/>
          </a:solidFill>
          <a:ln w="19050">
            <a:solidFill>
              <a:srgbClr val="9B7CF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22960" y="3246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9B7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ESPACO PARA O CODIGO DO LIVRO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8404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aqui a captura de tela ou o trecho de codigo do livro para apresentar ao vivo.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297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Baseie-se em um exemplo de criptografia simetrica (ex.: biblioteca cryptography / Fernet) - o livro nao traz um capitulo dedicado a isso; adapte o exemplo do professor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slide fica em branco de proposito: o codigo apresentado em aula vem diretamente do livro.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BLUE 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detecta ransomware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cedo esses sinais forem vistos, maior a chance de conter o estrago antes que se espalhe.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Renomeacao em massa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arquivos mudando de extensao em um curto intervalo de tempo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5146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7706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entropia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que viram "ruido" binario, tipico de dados cifrados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disco anormal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lendo e reescrevendo um volume grande de arquivos rapidamente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32119"/>
          </a:solidFill>
          <a:ln w="12700">
            <a:solidFill>
              <a:srgbClr val="1F33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8920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48737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resgate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5486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Aparecimento de arquivos de texto/imagem repetidos em varias pastas, com instrucoes de pagamento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tecnicas, um padrao comum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31720"/>
            <a:ext cx="457200" cy="10972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5603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disfarca e persiste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8640" y="21031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2960" y="2331720"/>
            <a:ext cx="457200" cy="10972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32960" y="25603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Exfiltracao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32960" y="306324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canais confiaveis para esconder a saida de dados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94320" y="210312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8640" y="2331720"/>
            <a:ext cx="457200" cy="109728"/>
          </a:xfrm>
          <a:prstGeom prst="rect">
            <a:avLst/>
          </a:prstGeom>
          <a:solidFill>
            <a:srgbClr val="9B7C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68640" y="256032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68640" y="3063240"/>
            <a:ext cx="262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principio protege ou sequestra, dependendo de quem tem a chave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tres casos, entender o ataque e o que torna possivel construir a defesa.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e leitura complementar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24128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3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Seitz, J. &amp; Arnold, T. Black Hat Python, 2nd Edition: Python Programming for Hackers and Pentesters. No Starch Press, 2021.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43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Capitulos referenciados: 7 (GitHub Command and Control), 8 (Common Trojaning Tasks on Windows), 9 (Fun with Exfiltration).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Civil da Internet (Lei 12.965/2014) e Codigo Penal, Art. 154-A (invasao de dispositivo informatico) - base legal do aviso etico desta aula.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69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UC11 - Seguranca Ofensiva e Defensiva</dc:creator>
  <cp:lastModifiedBy>UC11 - Seguranca Ofensiva e Defensiva</cp:lastModifiedBy>
  <cp:revision>1</cp:revision>
  <dcterms:created xsi:type="dcterms:W3CDTF">2026-09-21T05:49:19Z</dcterms:created>
  <dcterms:modified xsi:type="dcterms:W3CDTF">2026-09-21T05:49:19Z</dcterms:modified>
</cp:coreProperties>
</file>